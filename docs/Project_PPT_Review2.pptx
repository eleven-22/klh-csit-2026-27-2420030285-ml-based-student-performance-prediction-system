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reddy" userId="b6fb35fbc033da94" providerId="LiveId" clId="{34ED7555-B0F6-436B-A0D9-87E1B62A32CD}"/>
    <pc:docChg chg="undo custSel modSld">
      <pc:chgData name="akshitha reddy" userId="b6fb35fbc033da94" providerId="LiveId" clId="{34ED7555-B0F6-436B-A0D9-87E1B62A32CD}" dt="2026-09-12T05:19:37.175" v="205" actId="1076"/>
      <pc:docMkLst>
        <pc:docMk/>
      </pc:docMkLst>
      <pc:sldChg chg="modSp mod">
        <pc:chgData name="akshitha reddy" userId="b6fb35fbc033da94" providerId="LiveId" clId="{34ED7555-B0F6-436B-A0D9-87E1B62A32CD}" dt="2026-08-19T03:30:39.487" v="204" actId="20577"/>
        <pc:sldMkLst>
          <pc:docMk/>
          <pc:sldMk cId="0" sldId="258"/>
        </pc:sldMkLst>
        <pc:spChg chg="mod">
          <ac:chgData name="akshitha reddy" userId="b6fb35fbc033da94" providerId="LiveId" clId="{34ED7555-B0F6-436B-A0D9-87E1B62A32CD}" dt="2026-08-19T03:18:19.207" v="125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18:32.491" v="130" actId="2057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30:39.487" v="204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2:55:36.268" v="117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19:23.789" v="163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19:46" v="176" actId="2057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20:22.626" v="201" actId="103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akshitha reddy" userId="b6fb35fbc033da94" providerId="LiveId" clId="{34ED7555-B0F6-436B-A0D9-87E1B62A32CD}" dt="2026-08-19T03:20:36.004" v="203" actId="20577"/>
          <ac:spMkLst>
            <pc:docMk/>
            <pc:sldMk cId="0" sldId="258"/>
            <ac:spMk id="41" creationId="{00000000-0000-0000-0000-000000000000}"/>
          </ac:spMkLst>
        </pc:spChg>
      </pc:sldChg>
      <pc:sldChg chg="addSp delSp modSp mod">
        <pc:chgData name="akshitha reddy" userId="b6fb35fbc033da94" providerId="LiveId" clId="{34ED7555-B0F6-436B-A0D9-87E1B62A32CD}" dt="2026-09-12T05:19:37.175" v="205" actId="1076"/>
        <pc:sldMkLst>
          <pc:docMk/>
          <pc:sldMk cId="0" sldId="259"/>
        </pc:sldMkLst>
        <pc:spChg chg="mod">
          <ac:chgData name="akshitha reddy" userId="b6fb35fbc033da94" providerId="LiveId" clId="{34ED7555-B0F6-436B-A0D9-87E1B62A32CD}" dt="2026-09-12T05:19:37.175" v="205" actId="1076"/>
          <ac:spMkLst>
            <pc:docMk/>
            <pc:sldMk cId="0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39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7472"/>
            <a:ext cx="1722305" cy="12801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dirty="0"/>
              <a:t>APPLIED MACHINE LEARNING FOR TEXT ANALYSIS, S-7, GROUP-12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450592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Based Student Academic Performance Prediction System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404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System to predict Student Academic Risk and support Timely Intervention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44952" y="461772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44952" y="46177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28032" y="4617720"/>
            <a:ext cx="295351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28032" y="4617720"/>
            <a:ext cx="2953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Modelling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18704" y="4617720"/>
            <a:ext cx="21214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918704" y="4617720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7315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53218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132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T. Nishanth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32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2420080062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0632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2278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H. Niranjan Reddy 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2278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2420090088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77840" y="56235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42432" y="570585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P. Karthik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742432" y="6016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2420030404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C32B654-154A-6870-BB4C-48C6A6160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762" y="5544271"/>
            <a:ext cx="2505673" cy="94496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33BAF1-276C-1114-131A-ED3BE82780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5674088"/>
            <a:ext cx="2024047" cy="3840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46AD72B-0556-F0BF-A77E-351545412B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5986246"/>
            <a:ext cx="2011854" cy="304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6263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at academic risk are often identified only after their performance has declined, resulting in delayed academic support 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2834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identification of at  risk Students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520440" y="283464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703320" y="28346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personalized academic support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7947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4008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number of students to monitor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520440" y="379476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703320" y="379476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monitoring is time consuming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57200" y="4754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prioritize interventions 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520440" y="4754880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703320" y="475488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data-driven early warning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720840" y="2011680"/>
            <a:ext cx="5029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8"/>
          <p:cNvSpPr/>
          <p:nvPr/>
        </p:nvSpPr>
        <p:spPr>
          <a:xfrm>
            <a:off x="694944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ACADEMIC MONITORING → LIMITED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246888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Manual tracking and fixed criteria
· Delayed identification of struggling students
· Difficult to scale across large student groups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720840" y="370332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94944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EARLY WARNING → PROACTIVE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49440" y="429768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and personal features are analyzed to classify students at </a:t>
            </a: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Performance / At Risk, </a:t>
            </a: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risk score, explanations and recommendations for timely intervention. 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GOALS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Detection Framework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detect fake and bot profiles.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5196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48056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4805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064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Feature Extraction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2628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metadata, behaviour, text and network relations.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46720" y="19659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275320" y="219456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2753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915400" y="2221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Predictions- Model Comparison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21040" y="31546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LR, SVM, Random Forest, CNN/LSTM, BERT,GNN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8580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2588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3152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Display Confidence / Risk Score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3152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 attached to every profile prediction.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51960" y="39319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48056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4805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2064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2628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Implement Explainable AI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52628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 and feature importance for reasoning.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046720" y="3940629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915400" y="4187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6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32104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Display Data in one Practical Dashboard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321040" y="51206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analysis, risk level and explanations.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BAA39-F870-D407-7203-62E50EC5E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522395"/>
            <a:ext cx="11538473" cy="5813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06424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EXISTING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1124712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87452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/ Approach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604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Method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09160" y="18745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12280" y="18745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098280" y="1874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2231136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fake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detection(2018)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22311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Forest, SVM,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2311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attributes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22311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on structured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features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098280" y="22311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dependence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handcrafted features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73405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57200" y="2734056"/>
            <a:ext cx="11247120" cy="53035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2761488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social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detection(2022)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06040" y="2761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/ LSTM / DNN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09160" y="276148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and textual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12280" y="276148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patterns without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feature design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98280" y="2761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compute cost,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interpretability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2644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32918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NLP-based fake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detection(2023)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60604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TF-IDF, Word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Embeddings, BERT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0916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and post content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12280" y="329184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linguistic cues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profile text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098280" y="3291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view ignores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relationships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57200" y="3794760"/>
            <a:ext cx="11247120" cy="530352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" y="3822192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bot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Detection(2019)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606040" y="3822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Neural Networks,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learning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09160" y="38221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Follower–following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812280" y="382219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relational 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accounts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098280" y="38221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graph data;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computationally expensive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7200" y="43251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57200" y="435254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for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Classification(2021)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606040" y="4352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LIME, Feature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709160" y="435254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inputs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812280" y="435254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why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was made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098280" y="43525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added on, not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end-to-end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85546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457200" y="52212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57200" y="5440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57200" y="56418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(network)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57200" y="58430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457200" y="604418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Frequency – Inverse Document Frequency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6080760" y="54406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 Representations from Transformers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080760" y="56418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 Additive exPlanations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080760" y="5843016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 —  </a:t>
            </a: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Interpretable Model-agnostic Explanations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9DF45-1E7A-09C7-0397-DC48C3770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4C9AF69-8EEB-E825-DB6C-E569270AC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982" y="242219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109960" y="347472"/>
            <a:ext cx="713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GAP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Detection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34640" y="196596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adapt easily to evolving fake behaviour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51176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0080" y="255117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Profile-Based ML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834640" y="255117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view of user activity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3136392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313639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Behaviour-Based Detection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834640" y="3136392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ignore textual and network information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21608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372160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Text-Based Detection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834640" y="3721608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capture social relationships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306824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0080" y="43068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Graph-Based Detection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834640" y="4306824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requires complex network data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892040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834640" y="4892040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difficult to interpret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5477256"/>
            <a:ext cx="608076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40080" y="547725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2834640" y="5477256"/>
            <a:ext cx="3520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not integrated into the full detection pipeline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766560" y="1965960"/>
            <a:ext cx="4983480" cy="4023360"/>
          </a:xfrm>
          <a:prstGeom prst="roundRect">
            <a:avLst>
              <a:gd name="adj" fmla="val 181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99516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RESEARCH GAP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95160" y="260604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existing approaches focus on one or a limited set of information sources, while a </a:t>
            </a: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framework</a:t>
            </a: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profile metadata, behavioural patterns, NLP-based text features, network structure and </a:t>
            </a: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r>
              <a:rPr lang="en-US" sz="14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provide a more comprehensive detection approach.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517303A-797D-2D6D-F169-EFB3F2D2A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6A24AE7-13FF-DD9A-6226-AEE5BF4A1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262" y="394683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OUR IDEA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HETEROGENEOUS INPUTS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Metadata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" y="2898648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8986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Data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3465576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34655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Textual Data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" y="4032504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57200" y="403250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Graph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5102352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51023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404872" y="5102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404872" y="51023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78224" y="5102352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078224" y="51023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5522976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57200" y="5522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307592" y="5522976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307592" y="55229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066544" y="5522976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066544" y="55229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80060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937760" y="2103120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9377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422392" y="20391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22392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· normalisation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092440" y="1965960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8229600" y="2103120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822960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714232" y="20391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714232" y="23317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· text · graph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800600" y="27523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4937760" y="2889504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93776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5422392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Models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22392" y="31181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· DL · BERT · GNN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092440" y="2752344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8229600" y="2889504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8229600" y="28895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8714232" y="282549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Profile Classifier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714232" y="31181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/ Fake / Bot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800600" y="35387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4937760" y="3675888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93776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422392" y="36118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&amp; Risk Score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5422392" y="3904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→ risk band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092440" y="3538728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8229600" y="3675888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8229600" y="3675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8714232" y="361188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714232" y="3904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· LIME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800600" y="4325112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4937760" y="4462272"/>
            <a:ext cx="384048" cy="384048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93776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5422392" y="4398264"/>
            <a:ext cx="5623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/ Moderator Alert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5422392" y="4690872"/>
            <a:ext cx="5623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 explanation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9C4F3-EEA3-F014-2D67-17B7A0C29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CA475AD-7B7B-4E19-507F-2E5D40C2A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502" y="246791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WHAT'S NEW IN APPROACH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1323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Multi-Signal Detection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+ Behaviour + Text + Network instead of a single feature category.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0799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0799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0799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Approach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0799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classical ML against deep learning to find the most suitable model.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046720" y="19659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02752" y="2221992"/>
            <a:ext cx="438912" cy="438912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02752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02752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Predictions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02752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influential factors behind each classification, not just a label.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13232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25880" y="42885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Detection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13232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 risk level and confidence score with an explanation.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72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28232" y="4325112"/>
            <a:ext cx="438912" cy="438912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6428232" y="4325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040880" y="428853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Moderator-Oriented Output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28232" y="4846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model results into insights that support moderation decisions.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F4DF9-55CE-87B3-BFF5-B09E18F90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C30A81-1E89-7567-9287-65497FB9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502" y="312388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DESIGN THINKING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PROFILE RISK CARD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94560" y="2560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@example_user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971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194560" y="2971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94560" y="3383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Model-derived score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7947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Features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94560" y="37947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contributing signals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94560" y="4206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/ Flag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" y="475488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85800" y="4754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/ planned — not yet implemented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43400" y="196596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5720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EXPLAINABLE AI VIEW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0" y="2468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this profile flagged?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0" y="30632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/ Following Ratio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0" y="3355848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572000" y="3355848"/>
            <a:ext cx="2460650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572000" y="363016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Age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0" y="3922776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72000" y="3922776"/>
            <a:ext cx="1735074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72000" y="419709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Posting Frequency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0" y="4489704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572000" y="4489704"/>
            <a:ext cx="1261872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72000" y="47640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Pattern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0" y="5056632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572000" y="5056632"/>
            <a:ext cx="1009498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572000" y="53766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 only — bar lengths are not results.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229600" y="19659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84582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SUSPICION INDICATORS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458200" y="25420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Unusual activity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8458200" y="29077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Suspicious connections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8458200" y="32735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Repetitive content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458200" y="36393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Abnormal engagement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458200" y="40050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Incomplete profile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8229600" y="48463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8458200" y="50109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INTERACTIVE DASHBOARD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8458200" y="53035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Moderators inspect individual profiles and see the reasoning behind each prediction.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7C0AD-E06E-2920-63AB-04F8B8566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E3D27DD-AE34-A034-2059-8A7D4F604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84956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CONTRIBUTION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of the Proposed Work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Features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7744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697480" y="201168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97480" y="2011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Features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633472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BERT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263347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834640" y="2633472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834640" y="26334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/ GNN Features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55264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57200" y="3255264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38770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4169664"/>
            <a:ext cx="5532120" cy="2249424"/>
          </a:xfrm>
          <a:prstGeom prst="roundRect">
            <a:avLst>
              <a:gd name="adj" fmla="val 325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85800" y="43525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DETECTION &amp; EXPLANATION FRAMEWORK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" y="4672584"/>
            <a:ext cx="512064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unified, explainable multi-modal fake-profile detection framework that combines heterogeneous social-network signals and converts AI predictions into human-readable risk insights.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217920" y="201168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400800" y="21214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58000" y="212140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representation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58000" y="245059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individual profile, behavioural, textual and network-level information.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17920" y="329184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34015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58000" y="340156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+ Explanation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0" y="373075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aims to provide both classification and reasoning together.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217920" y="4572000"/>
            <a:ext cx="55321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4681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858000" y="46817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Risk-oriented output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0" y="501091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predictions into confidence and risk information useful for moderation.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217920" y="5870448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GNN, SHAP and Random Forest are established techniques — the novelty lies in their integration into a single application framework.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553F6-8BEF-D3EB-8A6D-96E926FF6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0C7B0E-C5A9-BE52-6FBB-0A7BFC8FC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502" y="295795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CAN WE BUILD IT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Analysis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65176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Python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Scikit-learn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TensorFlow / PyTorch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Transformers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NetworkX / PyG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SHAP · LIME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FastAPI · Streamlit / React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73552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02152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2624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available candidates on Kaggle: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02152" y="31089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Instagram Fake / Spammer / Genuine Accounts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Fake Social Media Account Detection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Twitter Genuine / Fake User Profiles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02152" y="4709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sizes to be confirmed after collection.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9904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C2410C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18504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18504" y="265176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Open-source ML libraries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Public datasets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Existing student computing resources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No proprietary software needed for the prototype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906256" y="1965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134856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34856" y="2441448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→ Preprocessing → Features → Models → Evaluation → Explainability → Dashboard → Testing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906256" y="3593592"/>
            <a:ext cx="2697480" cy="2304288"/>
          </a:xfrm>
          <a:prstGeom prst="roundRect">
            <a:avLst>
              <a:gd name="adj" fmla="val 31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134856" y="375818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34856" y="4123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277856" y="41239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34856" y="45079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77856" y="4507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134856" y="4892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277856" y="4892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34856" y="52760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277856" y="52760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Moderate–High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34C6B-5E14-1AE2-4D5D-3B704D71A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049B56F-EA53-8FC2-D565-0731E1D0D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982" y="303244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— 9 Phases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12620"/>
            <a:ext cx="1124712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0624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5772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0921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6069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1218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6366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1515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6663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1812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6960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72109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7257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2406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07554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27030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978515" y="1993392"/>
            <a:ext cx="4514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85800" y="2359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 &amp; Literature Survey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06240" y="244144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" y="27249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Collection &amp; Preprocessing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57725" y="280720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60695" y="317296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ML: RF · SVM · Logistic Regression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63665" y="353872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85800" y="3822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/ NLP / Graph: CNN-LSTM · BERT · GNN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366635" y="390448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8580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Accuracy · Precision · Recall · F1 · ROC-AUC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269605" y="427024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85800" y="45537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AI: SHAP · LIME · Feature Importance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721090" y="4636008"/>
            <a:ext cx="451485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85800" y="4919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Development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172575" y="500176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85800" y="52852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 —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Documentation &amp; Final Presentation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075545" y="5367528"/>
            <a:ext cx="902970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85800" y="5678424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numbers indicate the planned schedule for the review period.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57200" y="6455664"/>
            <a:ext cx="11292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6263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A1A48-53AC-DA7A-F5DE-8429FE26A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F42F408-38BE-C913-B5C2-461B3588D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827" y="358312"/>
            <a:ext cx="3444538" cy="746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1F7EB-959C-8B41-E1AF-ADD56C0B3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" y="12032"/>
            <a:ext cx="121784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055C5F-28BF-4349-AE78-A208B3CBA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4AC129-9BF0-61D5-C095-6370627E1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833" y="12032"/>
            <a:ext cx="2611235" cy="56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l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2608"/>
            <a:ext cx="960120" cy="713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7899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EXPECTED OUTCOME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3167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&amp; Conclusion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Profile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2368296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528316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57200" y="252831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2930652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3090672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57200" y="309067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3493008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653028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365302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4055364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215384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57200" y="421538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777740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57200" y="47777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5180076"/>
            <a:ext cx="5394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5340096"/>
            <a:ext cx="5394960" cy="402336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57200" y="53400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 Insight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19659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400800" y="196596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fake-profile classification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52560" y="19659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9235440" y="196596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Multi-feature analysis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17920" y="2743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6400800" y="2743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/ risk scoring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052560" y="274320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9235440" y="274320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predictions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17920" y="35204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400800" y="35204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evaluation of AI models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9052560" y="352044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9235440" y="35204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visualization dashboard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17920" y="438912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446520" y="4480560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proposed system aims to make fake-profile detection more adaptive, comprehensive and interpretable by combining multiple social-network signals with Explainable AI.”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217920" y="5852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6217920" y="6291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457200" y="6455664"/>
            <a:ext cx="11292840" cy="26060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F13AB82-3017-1462-A463-B3D6DBBDA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1306</Words>
  <Application>Microsoft Office PowerPoint</Application>
  <PresentationFormat>Widescreen</PresentationFormat>
  <Paragraphs>334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𝙺𝙰𝚁𝚃𝙷𝙸𝙺 𝙿𝚄𝙻𝙸𝚅𝙰𝚁𝚃𝙷𝙸</cp:lastModifiedBy>
  <cp:revision>5</cp:revision>
  <dcterms:created xsi:type="dcterms:W3CDTF">2026-08-11T13:21:10Z</dcterms:created>
  <dcterms:modified xsi:type="dcterms:W3CDTF">2026-09-20T13:40:11Z</dcterms:modified>
</cp:coreProperties>
</file>